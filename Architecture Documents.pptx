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4"/>
  </p:notesMasterIdLst>
  <p:sldIdLst>
    <p:sldId id="257" r:id="rId5"/>
    <p:sldId id="293" r:id="rId6"/>
    <p:sldId id="280" r:id="rId7"/>
    <p:sldId id="294" r:id="rId8"/>
    <p:sldId id="289" r:id="rId9"/>
    <p:sldId id="295" r:id="rId10"/>
    <p:sldId id="296" r:id="rId11"/>
    <p:sldId id="282" r:id="rId12"/>
    <p:sldId id="311" r:id="rId13"/>
    <p:sldId id="297" r:id="rId14"/>
    <p:sldId id="298" r:id="rId15"/>
    <p:sldId id="259" r:id="rId16"/>
    <p:sldId id="274" r:id="rId17"/>
    <p:sldId id="290" r:id="rId18"/>
    <p:sldId id="299" r:id="rId19"/>
    <p:sldId id="301" r:id="rId20"/>
    <p:sldId id="303" r:id="rId21"/>
    <p:sldId id="304" r:id="rId22"/>
    <p:sldId id="305" r:id="rId23"/>
    <p:sldId id="276" r:id="rId24"/>
    <p:sldId id="277" r:id="rId25"/>
    <p:sldId id="262" r:id="rId26"/>
    <p:sldId id="275" r:id="rId27"/>
    <p:sldId id="291" r:id="rId28"/>
    <p:sldId id="292" r:id="rId29"/>
    <p:sldId id="307" r:id="rId30"/>
    <p:sldId id="309" r:id="rId31"/>
    <p:sldId id="308" r:id="rId32"/>
    <p:sldId id="310" r:id="rId33"/>
  </p:sldIdLst>
  <p:sldSz cx="12192000" cy="6858000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3F7C8"/>
    <a:srgbClr val="F2F2F2"/>
    <a:srgbClr val="D0E6FF"/>
    <a:srgbClr val="FFF3D9"/>
    <a:srgbClr val="CFE4FF"/>
    <a:srgbClr val="FFFF66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6" autoAdjust="0"/>
    <p:restoredTop sz="94813"/>
  </p:normalViewPr>
  <p:slideViewPr>
    <p:cSldViewPr snapToGrid="0">
      <p:cViewPr>
        <p:scale>
          <a:sx n="70" d="100"/>
          <a:sy n="70" d="100"/>
        </p:scale>
        <p:origin x="3200" y="1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E39FBD-45E3-4AE5-B2F5-C5C257351824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A5670B61-FADA-474A-B067-A7509A09540A}">
      <dgm:prSet phldrT="[Text]"/>
      <dgm:spPr>
        <a:solidFill>
          <a:srgbClr val="FFF3D9"/>
        </a:solidFill>
        <a:ln>
          <a:solidFill>
            <a:schemeClr val="bg1">
              <a:lumMod val="65000"/>
            </a:schemeClr>
          </a:solidFill>
        </a:ln>
      </dgm:spPr>
      <dgm:t>
        <a:bodyPr/>
        <a:lstStyle/>
        <a:p>
          <a:r>
            <a:rPr lang="en-GB" dirty="0">
              <a:solidFill>
                <a:schemeClr val="tx1"/>
              </a:solidFill>
            </a:rPr>
            <a:t>Finance Manager</a:t>
          </a:r>
        </a:p>
      </dgm:t>
    </dgm:pt>
    <dgm:pt modelId="{70716B12-8152-4C0C-A363-0865F20ACB7C}" type="parTrans" cxnId="{43EF58FA-AD0B-4CA4-9E03-F4233F1D4D7D}">
      <dgm:prSet/>
      <dgm:spPr/>
      <dgm:t>
        <a:bodyPr/>
        <a:lstStyle/>
        <a:p>
          <a:endParaRPr lang="en-GB"/>
        </a:p>
      </dgm:t>
    </dgm:pt>
    <dgm:pt modelId="{74983534-BA5E-48B6-8C89-99CE8AD3856C}" type="sibTrans" cxnId="{43EF58FA-AD0B-4CA4-9E03-F4233F1D4D7D}">
      <dgm:prSet/>
      <dgm:spPr>
        <a:solidFill>
          <a:schemeClr val="tx2">
            <a:lumMod val="25000"/>
            <a:lumOff val="75000"/>
          </a:schemeClr>
        </a:solidFill>
        <a:ln>
          <a:noFill/>
        </a:ln>
      </dgm:spPr>
      <dgm:t>
        <a:bodyPr/>
        <a:lstStyle/>
        <a:p>
          <a:endParaRPr lang="en-GB"/>
        </a:p>
      </dgm:t>
    </dgm:pt>
    <dgm:pt modelId="{9E21183D-F985-4465-806F-569D1F0BFEA3}">
      <dgm:prSet phldrT="[Text]"/>
      <dgm:spPr>
        <a:solidFill>
          <a:srgbClr val="C3F7C8"/>
        </a:solidFill>
        <a:ln>
          <a:solidFill>
            <a:schemeClr val="bg1">
              <a:lumMod val="75000"/>
            </a:schemeClr>
          </a:solidFill>
        </a:ln>
      </dgm:spPr>
      <dgm:t>
        <a:bodyPr/>
        <a:lstStyle/>
        <a:p>
          <a:r>
            <a:rPr lang="en-GB" dirty="0">
              <a:solidFill>
                <a:schemeClr val="tx1"/>
              </a:solidFill>
            </a:rPr>
            <a:t>Department Analyst</a:t>
          </a:r>
        </a:p>
      </dgm:t>
    </dgm:pt>
    <dgm:pt modelId="{7B10BBFD-1A52-45C0-A0C8-ED8CFD663662}" type="parTrans" cxnId="{44A6F44D-7F2B-481E-992F-1BA28B0B3502}">
      <dgm:prSet/>
      <dgm:spPr/>
      <dgm:t>
        <a:bodyPr/>
        <a:lstStyle/>
        <a:p>
          <a:endParaRPr lang="en-GB"/>
        </a:p>
      </dgm:t>
    </dgm:pt>
    <dgm:pt modelId="{64178B84-EE71-4E15-A3E1-230EDC157B1B}" type="sibTrans" cxnId="{44A6F44D-7F2B-481E-992F-1BA28B0B3502}">
      <dgm:prSet/>
      <dgm:spPr>
        <a:ln>
          <a:noFill/>
        </a:ln>
      </dgm:spPr>
      <dgm:t>
        <a:bodyPr/>
        <a:lstStyle/>
        <a:p>
          <a:endParaRPr lang="en-GB"/>
        </a:p>
      </dgm:t>
    </dgm:pt>
    <dgm:pt modelId="{E1E54A43-2827-48DE-8895-E631058F9EED}">
      <dgm:prSet phldrT="[Text]"/>
      <dgm:spPr>
        <a:solidFill>
          <a:srgbClr val="C3F7C8"/>
        </a:solidFill>
        <a:ln>
          <a:solidFill>
            <a:schemeClr val="bg1">
              <a:lumMod val="75000"/>
            </a:schemeClr>
          </a:solidFill>
        </a:ln>
      </dgm:spPr>
      <dgm:t>
        <a:bodyPr/>
        <a:lstStyle/>
        <a:p>
          <a:r>
            <a:rPr lang="en-GB" dirty="0">
              <a:solidFill>
                <a:schemeClr val="tx1"/>
              </a:solidFill>
            </a:rPr>
            <a:t>Department Manager</a:t>
          </a:r>
        </a:p>
      </dgm:t>
    </dgm:pt>
    <dgm:pt modelId="{B9C42F78-F43B-408F-8362-6F7A867F4913}" type="parTrans" cxnId="{CB3FDD35-C217-4CC3-8E76-55627E93462B}">
      <dgm:prSet/>
      <dgm:spPr/>
      <dgm:t>
        <a:bodyPr/>
        <a:lstStyle/>
        <a:p>
          <a:endParaRPr lang="en-GB"/>
        </a:p>
      </dgm:t>
    </dgm:pt>
    <dgm:pt modelId="{F7567FA9-F722-40E2-8C33-EDA67BD757B1}" type="sibTrans" cxnId="{CB3FDD35-C217-4CC3-8E76-55627E93462B}">
      <dgm:prSet/>
      <dgm:spPr>
        <a:ln>
          <a:noFill/>
        </a:ln>
      </dgm:spPr>
      <dgm:t>
        <a:bodyPr/>
        <a:lstStyle/>
        <a:p>
          <a:endParaRPr lang="en-GB"/>
        </a:p>
      </dgm:t>
    </dgm:pt>
    <dgm:pt modelId="{012DC99D-E716-43ED-89DC-AF07E702C310}" type="pres">
      <dgm:prSet presAssocID="{DDE39FBD-45E3-4AE5-B2F5-C5C257351824}" presName="cycle" presStyleCnt="0">
        <dgm:presLayoutVars>
          <dgm:dir/>
          <dgm:resizeHandles val="exact"/>
        </dgm:presLayoutVars>
      </dgm:prSet>
      <dgm:spPr/>
    </dgm:pt>
    <dgm:pt modelId="{5D0859CB-8708-4BB2-AA30-366D175A7197}" type="pres">
      <dgm:prSet presAssocID="{A5670B61-FADA-474A-B067-A7509A09540A}" presName="node" presStyleLbl="node1" presStyleIdx="0" presStyleCnt="3" custRadScaleRad="101488" custRadScaleInc="34218">
        <dgm:presLayoutVars>
          <dgm:bulletEnabled val="1"/>
        </dgm:presLayoutVars>
      </dgm:prSet>
      <dgm:spPr/>
    </dgm:pt>
    <dgm:pt modelId="{036CAAE2-5170-4A15-8B1F-E4393DEEA896}" type="pres">
      <dgm:prSet presAssocID="{A5670B61-FADA-474A-B067-A7509A09540A}" presName="spNode" presStyleCnt="0"/>
      <dgm:spPr/>
    </dgm:pt>
    <dgm:pt modelId="{504AF433-6A85-405D-9F88-4CA19FDFF138}" type="pres">
      <dgm:prSet presAssocID="{74983534-BA5E-48B6-8C89-99CE8AD3856C}" presName="sibTrans" presStyleLbl="sibTrans1D1" presStyleIdx="0" presStyleCnt="3"/>
      <dgm:spPr/>
    </dgm:pt>
    <dgm:pt modelId="{508119AF-4186-455C-9E90-9871F432F098}" type="pres">
      <dgm:prSet presAssocID="{9E21183D-F985-4465-806F-569D1F0BFEA3}" presName="node" presStyleLbl="node1" presStyleIdx="1" presStyleCnt="3" custRadScaleRad="130375" custRadScaleInc="-38907">
        <dgm:presLayoutVars>
          <dgm:bulletEnabled val="1"/>
        </dgm:presLayoutVars>
      </dgm:prSet>
      <dgm:spPr/>
    </dgm:pt>
    <dgm:pt modelId="{7BC28B8D-A306-4C9E-A267-76C8C9BFB7E5}" type="pres">
      <dgm:prSet presAssocID="{9E21183D-F985-4465-806F-569D1F0BFEA3}" presName="spNode" presStyleCnt="0"/>
      <dgm:spPr/>
    </dgm:pt>
    <dgm:pt modelId="{3FC4AC77-1BAB-43A0-AB94-86A2C38E6436}" type="pres">
      <dgm:prSet presAssocID="{64178B84-EE71-4E15-A3E1-230EDC157B1B}" presName="sibTrans" presStyleLbl="sibTrans1D1" presStyleIdx="1" presStyleCnt="3"/>
      <dgm:spPr/>
    </dgm:pt>
    <dgm:pt modelId="{4ED9EBF7-7359-41C9-9F9C-F4C3B1C1D1CA}" type="pres">
      <dgm:prSet presAssocID="{E1E54A43-2827-48DE-8895-E631058F9EED}" presName="node" presStyleLbl="node1" presStyleIdx="2" presStyleCnt="3" custRadScaleRad="95803" custRadScaleInc="21946">
        <dgm:presLayoutVars>
          <dgm:bulletEnabled val="1"/>
        </dgm:presLayoutVars>
      </dgm:prSet>
      <dgm:spPr/>
    </dgm:pt>
    <dgm:pt modelId="{CC4103B5-37A4-46CB-AF6C-8BED9D61C786}" type="pres">
      <dgm:prSet presAssocID="{E1E54A43-2827-48DE-8895-E631058F9EED}" presName="spNode" presStyleCnt="0"/>
      <dgm:spPr/>
    </dgm:pt>
    <dgm:pt modelId="{527315EF-0D2C-4B01-9A46-873F99D216D3}" type="pres">
      <dgm:prSet presAssocID="{F7567FA9-F722-40E2-8C33-EDA67BD757B1}" presName="sibTrans" presStyleLbl="sibTrans1D1" presStyleIdx="2" presStyleCnt="3"/>
      <dgm:spPr/>
    </dgm:pt>
  </dgm:ptLst>
  <dgm:cxnLst>
    <dgm:cxn modelId="{839F8307-AA78-4D57-9AD6-1A8034906390}" type="presOf" srcId="{DDE39FBD-45E3-4AE5-B2F5-C5C257351824}" destId="{012DC99D-E716-43ED-89DC-AF07E702C310}" srcOrd="0" destOrd="0" presId="urn:microsoft.com/office/officeart/2005/8/layout/cycle6"/>
    <dgm:cxn modelId="{A1BDF30C-5D52-48AF-A906-40DEF6E521C9}" type="presOf" srcId="{74983534-BA5E-48B6-8C89-99CE8AD3856C}" destId="{504AF433-6A85-405D-9F88-4CA19FDFF138}" srcOrd="0" destOrd="0" presId="urn:microsoft.com/office/officeart/2005/8/layout/cycle6"/>
    <dgm:cxn modelId="{2BDC0E0F-17E7-4C35-86C6-366B1788F626}" type="presOf" srcId="{9E21183D-F985-4465-806F-569D1F0BFEA3}" destId="{508119AF-4186-455C-9E90-9871F432F098}" srcOrd="0" destOrd="0" presId="urn:microsoft.com/office/officeart/2005/8/layout/cycle6"/>
    <dgm:cxn modelId="{170A381E-A8A7-4F2A-8186-0ED34A2511E0}" type="presOf" srcId="{64178B84-EE71-4E15-A3E1-230EDC157B1B}" destId="{3FC4AC77-1BAB-43A0-AB94-86A2C38E6436}" srcOrd="0" destOrd="0" presId="urn:microsoft.com/office/officeart/2005/8/layout/cycle6"/>
    <dgm:cxn modelId="{CB3FDD35-C217-4CC3-8E76-55627E93462B}" srcId="{DDE39FBD-45E3-4AE5-B2F5-C5C257351824}" destId="{E1E54A43-2827-48DE-8895-E631058F9EED}" srcOrd="2" destOrd="0" parTransId="{B9C42F78-F43B-408F-8362-6F7A867F4913}" sibTransId="{F7567FA9-F722-40E2-8C33-EDA67BD757B1}"/>
    <dgm:cxn modelId="{B893794B-3E7C-4667-A894-DA71B6471625}" type="presOf" srcId="{E1E54A43-2827-48DE-8895-E631058F9EED}" destId="{4ED9EBF7-7359-41C9-9F9C-F4C3B1C1D1CA}" srcOrd="0" destOrd="0" presId="urn:microsoft.com/office/officeart/2005/8/layout/cycle6"/>
    <dgm:cxn modelId="{44A6F44D-7F2B-481E-992F-1BA28B0B3502}" srcId="{DDE39FBD-45E3-4AE5-B2F5-C5C257351824}" destId="{9E21183D-F985-4465-806F-569D1F0BFEA3}" srcOrd="1" destOrd="0" parTransId="{7B10BBFD-1A52-45C0-A0C8-ED8CFD663662}" sibTransId="{64178B84-EE71-4E15-A3E1-230EDC157B1B}"/>
    <dgm:cxn modelId="{5268E8B9-6D8A-4A89-893A-FFC5E64B8CB9}" type="presOf" srcId="{A5670B61-FADA-474A-B067-A7509A09540A}" destId="{5D0859CB-8708-4BB2-AA30-366D175A7197}" srcOrd="0" destOrd="0" presId="urn:microsoft.com/office/officeart/2005/8/layout/cycle6"/>
    <dgm:cxn modelId="{43EF58FA-AD0B-4CA4-9E03-F4233F1D4D7D}" srcId="{DDE39FBD-45E3-4AE5-B2F5-C5C257351824}" destId="{A5670B61-FADA-474A-B067-A7509A09540A}" srcOrd="0" destOrd="0" parTransId="{70716B12-8152-4C0C-A363-0865F20ACB7C}" sibTransId="{74983534-BA5E-48B6-8C89-99CE8AD3856C}"/>
    <dgm:cxn modelId="{5AC4B5FA-0A5D-4198-84BC-872C65C15CEA}" type="presOf" srcId="{F7567FA9-F722-40E2-8C33-EDA67BD757B1}" destId="{527315EF-0D2C-4B01-9A46-873F99D216D3}" srcOrd="0" destOrd="0" presId="urn:microsoft.com/office/officeart/2005/8/layout/cycle6"/>
    <dgm:cxn modelId="{A416E741-5268-4CC9-B539-F9CA824F84FE}" type="presParOf" srcId="{012DC99D-E716-43ED-89DC-AF07E702C310}" destId="{5D0859CB-8708-4BB2-AA30-366D175A7197}" srcOrd="0" destOrd="0" presId="urn:microsoft.com/office/officeart/2005/8/layout/cycle6"/>
    <dgm:cxn modelId="{3BD111AF-41DF-4695-89BA-003777755945}" type="presParOf" srcId="{012DC99D-E716-43ED-89DC-AF07E702C310}" destId="{036CAAE2-5170-4A15-8B1F-E4393DEEA896}" srcOrd="1" destOrd="0" presId="urn:microsoft.com/office/officeart/2005/8/layout/cycle6"/>
    <dgm:cxn modelId="{16311EC6-037D-4B0D-95A0-E5810FD830C8}" type="presParOf" srcId="{012DC99D-E716-43ED-89DC-AF07E702C310}" destId="{504AF433-6A85-405D-9F88-4CA19FDFF138}" srcOrd="2" destOrd="0" presId="urn:microsoft.com/office/officeart/2005/8/layout/cycle6"/>
    <dgm:cxn modelId="{F9F459A2-A5DC-4C2A-BE9B-4C30596F826B}" type="presParOf" srcId="{012DC99D-E716-43ED-89DC-AF07E702C310}" destId="{508119AF-4186-455C-9E90-9871F432F098}" srcOrd="3" destOrd="0" presId="urn:microsoft.com/office/officeart/2005/8/layout/cycle6"/>
    <dgm:cxn modelId="{0175C238-5442-4DBC-9297-31583AF8F366}" type="presParOf" srcId="{012DC99D-E716-43ED-89DC-AF07E702C310}" destId="{7BC28B8D-A306-4C9E-A267-76C8C9BFB7E5}" srcOrd="4" destOrd="0" presId="urn:microsoft.com/office/officeart/2005/8/layout/cycle6"/>
    <dgm:cxn modelId="{5534CC60-E932-4B52-824C-F91A5AF80371}" type="presParOf" srcId="{012DC99D-E716-43ED-89DC-AF07E702C310}" destId="{3FC4AC77-1BAB-43A0-AB94-86A2C38E6436}" srcOrd="5" destOrd="0" presId="urn:microsoft.com/office/officeart/2005/8/layout/cycle6"/>
    <dgm:cxn modelId="{86A6BBBB-24F2-4414-9A3D-38B2228F583A}" type="presParOf" srcId="{012DC99D-E716-43ED-89DC-AF07E702C310}" destId="{4ED9EBF7-7359-41C9-9F9C-F4C3B1C1D1CA}" srcOrd="6" destOrd="0" presId="urn:microsoft.com/office/officeart/2005/8/layout/cycle6"/>
    <dgm:cxn modelId="{6A8CDE0A-F56E-47A4-9A5B-0100FCBDFCE5}" type="presParOf" srcId="{012DC99D-E716-43ED-89DC-AF07E702C310}" destId="{CC4103B5-37A4-46CB-AF6C-8BED9D61C786}" srcOrd="7" destOrd="0" presId="urn:microsoft.com/office/officeart/2005/8/layout/cycle6"/>
    <dgm:cxn modelId="{409A8E52-9638-4277-A0AB-46F2F452B222}" type="presParOf" srcId="{012DC99D-E716-43ED-89DC-AF07E702C310}" destId="{527315EF-0D2C-4B01-9A46-873F99D216D3}" srcOrd="8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0859CB-8708-4BB2-AA30-366D175A7197}">
      <dsp:nvSpPr>
        <dsp:cNvPr id="0" name=""/>
        <dsp:cNvSpPr/>
      </dsp:nvSpPr>
      <dsp:spPr>
        <a:xfrm>
          <a:off x="3280117" y="29960"/>
          <a:ext cx="2341877" cy="1522220"/>
        </a:xfrm>
        <a:prstGeom prst="roundRect">
          <a:avLst/>
        </a:prstGeom>
        <a:solidFill>
          <a:srgbClr val="FFF3D9"/>
        </a:solidFill>
        <a:ln w="19050" cap="flat" cmpd="sng" algn="ctr">
          <a:solidFill>
            <a:schemeClr val="bg1">
              <a:lumMod val="6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>
              <a:solidFill>
                <a:schemeClr val="tx1"/>
              </a:solidFill>
            </a:rPr>
            <a:t>Finance Manager</a:t>
          </a:r>
        </a:p>
      </dsp:txBody>
      <dsp:txXfrm>
        <a:off x="3354426" y="104269"/>
        <a:ext cx="2193259" cy="1373602"/>
      </dsp:txXfrm>
    </dsp:sp>
    <dsp:sp modelId="{504AF433-6A85-405D-9F88-4CA19FDFF138}">
      <dsp:nvSpPr>
        <dsp:cNvPr id="0" name=""/>
        <dsp:cNvSpPr/>
      </dsp:nvSpPr>
      <dsp:spPr>
        <a:xfrm>
          <a:off x="2663828" y="1334094"/>
          <a:ext cx="4058301" cy="4058301"/>
        </a:xfrm>
        <a:custGeom>
          <a:avLst/>
          <a:gdLst/>
          <a:ahLst/>
          <a:cxnLst/>
          <a:rect l="0" t="0" r="0" b="0"/>
          <a:pathLst>
            <a:path>
              <a:moveTo>
                <a:pt x="2957793" y="224967"/>
              </a:moveTo>
              <a:arcTo wR="2029150" hR="2029150" stAng="17834137" swAng="2578284"/>
            </a:path>
          </a:pathLst>
        </a:custGeom>
        <a:noFill/>
        <a:ln w="1270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8119AF-4186-455C-9E90-9871F432F098}">
      <dsp:nvSpPr>
        <dsp:cNvPr id="0" name=""/>
        <dsp:cNvSpPr/>
      </dsp:nvSpPr>
      <dsp:spPr>
        <a:xfrm>
          <a:off x="5354797" y="2690398"/>
          <a:ext cx="2341877" cy="1522220"/>
        </a:xfrm>
        <a:prstGeom prst="roundRect">
          <a:avLst/>
        </a:prstGeom>
        <a:solidFill>
          <a:srgbClr val="C3F7C8"/>
        </a:solidFill>
        <a:ln w="19050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>
              <a:solidFill>
                <a:schemeClr val="tx1"/>
              </a:solidFill>
            </a:rPr>
            <a:t>Department Analyst</a:t>
          </a:r>
        </a:p>
      </dsp:txBody>
      <dsp:txXfrm>
        <a:off x="5429106" y="2764707"/>
        <a:ext cx="2193259" cy="1373602"/>
      </dsp:txXfrm>
    </dsp:sp>
    <dsp:sp modelId="{3FC4AC77-1BAB-43A0-AB94-86A2C38E6436}">
      <dsp:nvSpPr>
        <dsp:cNvPr id="0" name=""/>
        <dsp:cNvSpPr/>
      </dsp:nvSpPr>
      <dsp:spPr>
        <a:xfrm>
          <a:off x="2398619" y="1187080"/>
          <a:ext cx="4058301" cy="4058301"/>
        </a:xfrm>
        <a:custGeom>
          <a:avLst/>
          <a:gdLst/>
          <a:ahLst/>
          <a:cxnLst/>
          <a:rect l="0" t="0" r="0" b="0"/>
          <a:pathLst>
            <a:path>
              <a:moveTo>
                <a:pt x="3779324" y="3055964"/>
              </a:moveTo>
              <a:arcTo wR="2029150" hR="2029150" stAng="1823989" swAng="7065630"/>
            </a:path>
          </a:pathLst>
        </a:custGeom>
        <a:noFill/>
        <a:ln w="1270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D9EBF7-7359-41C9-9F9C-F4C3B1C1D1CA}">
      <dsp:nvSpPr>
        <dsp:cNvPr id="0" name=""/>
        <dsp:cNvSpPr/>
      </dsp:nvSpPr>
      <dsp:spPr>
        <a:xfrm>
          <a:off x="980672" y="2734501"/>
          <a:ext cx="2341877" cy="1522220"/>
        </a:xfrm>
        <a:prstGeom prst="roundRect">
          <a:avLst/>
        </a:prstGeom>
        <a:solidFill>
          <a:srgbClr val="C3F7C8"/>
        </a:solidFill>
        <a:ln w="19050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>
              <a:solidFill>
                <a:schemeClr val="tx1"/>
              </a:solidFill>
            </a:rPr>
            <a:t>Department Manager</a:t>
          </a:r>
        </a:p>
      </dsp:txBody>
      <dsp:txXfrm>
        <a:off x="1054981" y="2808810"/>
        <a:ext cx="2193259" cy="1373602"/>
      </dsp:txXfrm>
    </dsp:sp>
    <dsp:sp modelId="{527315EF-0D2C-4B01-9A46-873F99D216D3}">
      <dsp:nvSpPr>
        <dsp:cNvPr id="0" name=""/>
        <dsp:cNvSpPr/>
      </dsp:nvSpPr>
      <dsp:spPr>
        <a:xfrm>
          <a:off x="2020618" y="697751"/>
          <a:ext cx="4058301" cy="4058301"/>
        </a:xfrm>
        <a:custGeom>
          <a:avLst/>
          <a:gdLst/>
          <a:ahLst/>
          <a:cxnLst/>
          <a:rect l="0" t="0" r="0" b="0"/>
          <a:pathLst>
            <a:path>
              <a:moveTo>
                <a:pt x="55" y="2014078"/>
              </a:moveTo>
              <a:arcTo wR="2029150" hR="2029150" stAng="10825535" swAng="3998644"/>
            </a:path>
          </a:pathLst>
        </a:custGeom>
        <a:noFill/>
        <a:ln w="1270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C82EBB-ABA2-424A-9F22-9904683A44D9}" type="datetimeFigureOut">
              <a:rPr lang="en-US" smtClean="0"/>
              <a:t>8/10/25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7C743B-71EF-A94C-B16F-11D84808C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331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7C743B-71EF-A94C-B16F-11D84808C53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456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7C743B-71EF-A94C-B16F-11D84808C53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5385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7C743B-71EF-A94C-B16F-11D84808C53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517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F03D1-0503-3A21-F898-087BA78B06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2BA4D1-E7DA-9CCF-C195-C0033E74EB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4B51-D0E8-9655-7BEA-E314DBAC4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0D16B-30C9-43A7-AA96-8E957BCBB33F}" type="datetimeFigureOut">
              <a:rPr lang="en-GB" smtClean="0"/>
              <a:t>10/08/2025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D0EDB-35CF-52D7-A1A2-53FB1F6F2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C8BB7-C25B-5ECC-2C86-22A2DA78F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6C89C-E282-4041-8555-88B0BEA488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364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DD48A-0881-EA40-E6CA-7107D9C71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E4A13-168C-86A1-9041-1395AF471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ED49E-D498-8D52-B17D-26B5BB8DD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0D16B-30C9-43A7-AA96-8E957BCBB33F}" type="datetimeFigureOut">
              <a:rPr lang="en-GB" smtClean="0"/>
              <a:t>10/08/2025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5701A-4382-EB64-3701-ED93CEE3B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71BF9-65F2-11D6-3A91-3F613EB09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6C89C-E282-4041-8555-88B0BEA488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84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51965-F954-2384-D7A9-14C523DDB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33D7D-928B-5F66-BD7A-6371FE47B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AECD1-B3A2-BECD-9E49-6333BBA1E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0D16B-30C9-43A7-AA96-8E957BCBB33F}" type="datetimeFigureOut">
              <a:rPr lang="en-GB" smtClean="0"/>
              <a:t>10/08/2025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E23CD-7BEC-91E1-992E-19B71F59F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58F4C-4635-0B56-0EC3-EEE005B2F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6C89C-E282-4041-8555-88B0BEA488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3289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30AFF-940B-14DE-B9A0-1052ABB89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BAB6C-DFC5-90A5-C7D6-CFF815AB03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868855-F428-8131-F3CB-109244EE6B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AC2BBC-C57F-A710-EEF2-F766CABA0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0D16B-30C9-43A7-AA96-8E957BCBB33F}" type="datetimeFigureOut">
              <a:rPr lang="en-GB" smtClean="0"/>
              <a:t>10/08/2025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6B0AF0-F7DB-A826-F7B0-064DB7BEC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D0272-7BB6-EDC2-658A-7DC86D4EF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6C89C-E282-4041-8555-88B0BEA488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6672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53769-8B06-023C-5C60-CBDE08890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276BC-C48A-5218-A262-978C6CB06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4F9FA3-C81C-AB99-A5EB-3F0402D7B5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24F4C0-64E8-183A-9773-593DD5418B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80ABF-53F6-3378-4BB0-B9F8085F1D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18438B-31BB-B140-AB0B-E8E7B945C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0D16B-30C9-43A7-AA96-8E957BCBB33F}" type="datetimeFigureOut">
              <a:rPr lang="en-GB" smtClean="0"/>
              <a:t>10/08/2025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11C5DE-EFE1-5D2F-6C15-2A09AC99B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FF14F7-2415-42B9-F4FD-2DC3C0416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6C89C-E282-4041-8555-88B0BEA488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986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E1F79-B04B-28AF-6687-FE0942154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1C05D7-9EDC-42AE-103E-FF43B9038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0D16B-30C9-43A7-AA96-8E957BCBB33F}" type="datetimeFigureOut">
              <a:rPr lang="en-GB" smtClean="0"/>
              <a:t>10/08/2025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7730A7-D4B8-68DA-31D7-4F622DAEE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D4FAFF-0CA5-42F8-D1E6-E1F51454B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6C89C-E282-4041-8555-88B0BEA488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2464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0866AC-0956-D0D7-F423-EDED5C173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0D16B-30C9-43A7-AA96-8E957BCBB33F}" type="datetimeFigureOut">
              <a:rPr lang="en-GB" smtClean="0"/>
              <a:t>10/08/2025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E7B157-335D-6D8F-60DC-2884883CC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11602-C7D7-8DBB-EBFB-B4F5FAD83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6C89C-E282-4041-8555-88B0BEA488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563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09FD0-4994-1537-F507-E212048F4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F0501-5E97-923D-2479-6023FF226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4F732-94FA-C9E4-24FE-DE0260907E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781B97-CD36-6967-12D4-3340114A0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0D16B-30C9-43A7-AA96-8E957BCBB33F}" type="datetimeFigureOut">
              <a:rPr lang="en-GB" smtClean="0"/>
              <a:t>10/08/2025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4F3235-D9CB-4763-1131-5500E3B10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6D40AC-20C8-9840-4985-56A080370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6C89C-E282-4041-8555-88B0BEA488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9361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9B317-B6FD-22C9-3D5A-FFBFFF790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1D98E4-E8D0-BEC5-BC39-3C3007AD42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C2EB65-B5E0-B9C2-C8EF-33FBCB5D56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BD97CF-7A66-2FDD-76BD-AA0E036D2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0D16B-30C9-43A7-AA96-8E957BCBB33F}" type="datetimeFigureOut">
              <a:rPr lang="en-GB" smtClean="0"/>
              <a:t>10/08/2025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538C7A-4031-9BF9-B6C0-80593817F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7D103D-91DD-0AEB-8F11-AB2513F81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6C89C-E282-4041-8555-88B0BEA488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2373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67D24-CF19-7EBE-7655-9FA62F37B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4AE05C-89D1-69AF-A458-9697C057C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5D8B6-46F3-9C1F-BCE1-800427F8C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0D16B-30C9-43A7-AA96-8E957BCBB33F}" type="datetimeFigureOut">
              <a:rPr lang="en-GB" smtClean="0"/>
              <a:t>10/08/2025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9EE29-410C-07B9-14FD-750EA3C9A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B5AAF-5A0E-A05B-ABF9-1CAE9CD51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6C89C-E282-4041-8555-88B0BEA488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6091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C2C852-3BB8-8BD2-0A8B-82861759F9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22DC29-8D65-6446-EA14-901D094BE3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C4424-2506-7939-CFBF-58D6E71D7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0D16B-30C9-43A7-AA96-8E957BCBB33F}" type="datetimeFigureOut">
              <a:rPr lang="en-GB" smtClean="0"/>
              <a:t>10/08/2025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40381-8D49-D6A2-4538-4DED5AEE9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9F958-DD9E-5256-997D-AFC032F9D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6C89C-E282-4041-8555-88B0BEA488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798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1FEA59-6B9D-58B2-8F7E-19A15E821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7B33F1-41CE-6407-1D07-15E1EEFBB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78136-DC24-F080-31EC-3EA1DCF17C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60D16B-30C9-43A7-AA96-8E957BCBB33F}" type="datetimeFigureOut">
              <a:rPr lang="en-GB" smtClean="0"/>
              <a:t>10/08/2025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931E9-2EC2-00FC-C6A6-51EF5869D0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EB3C5-ED83-7DB2-2AA9-307344BF42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C6C89C-E282-4041-8555-88B0BEA488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0346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EF025-5E51-10BC-6670-4512CA577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8B7C13-A089-5BEE-93B2-9F515553D24B}"/>
              </a:ext>
            </a:extLst>
          </p:cNvPr>
          <p:cNvSpPr txBox="1"/>
          <p:nvPr/>
        </p:nvSpPr>
        <p:spPr>
          <a:xfrm>
            <a:off x="400050" y="2025650"/>
            <a:ext cx="8534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200" b="1" dirty="0"/>
              <a:t>Business Process – Accounts Payable (Small business)</a:t>
            </a:r>
          </a:p>
        </p:txBody>
      </p:sp>
    </p:spTree>
    <p:extLst>
      <p:ext uri="{BB962C8B-B14F-4D97-AF65-F5344CB8AC3E}">
        <p14:creationId xmlns:p14="http://schemas.microsoft.com/office/powerpoint/2010/main" val="1195884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C1FF6-16BB-485C-57D2-3EF62B99D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935EEE-76A6-2EE8-0462-6C22D02E6F78}"/>
              </a:ext>
            </a:extLst>
          </p:cNvPr>
          <p:cNvSpPr txBox="1"/>
          <p:nvPr/>
        </p:nvSpPr>
        <p:spPr>
          <a:xfrm>
            <a:off x="400050" y="2025650"/>
            <a:ext cx="853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200" b="1" dirty="0"/>
              <a:t>Stakeholder Wheel</a:t>
            </a:r>
          </a:p>
        </p:txBody>
      </p:sp>
    </p:spTree>
    <p:extLst>
      <p:ext uri="{BB962C8B-B14F-4D97-AF65-F5344CB8AC3E}">
        <p14:creationId xmlns:p14="http://schemas.microsoft.com/office/powerpoint/2010/main" val="726203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D7E6915F-959A-E615-1A07-DCE0D00573C9}"/>
              </a:ext>
            </a:extLst>
          </p:cNvPr>
          <p:cNvSpPr txBox="1"/>
          <p:nvPr/>
        </p:nvSpPr>
        <p:spPr>
          <a:xfrm>
            <a:off x="118805" y="150898"/>
            <a:ext cx="93351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u="sng" dirty="0"/>
              <a:t>Accounts Payable Stakeholder Wheel  </a:t>
            </a:r>
          </a:p>
        </p:txBody>
      </p:sp>
      <p:graphicFrame>
        <p:nvGraphicFramePr>
          <p:cNvPr id="19" name="Diagram 18">
            <a:extLst>
              <a:ext uri="{FF2B5EF4-FFF2-40B4-BE49-F238E27FC236}">
                <a16:creationId xmlns:a16="http://schemas.microsoft.com/office/drawing/2014/main" id="{4000D3BA-068A-3A2F-7921-2EF713C138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1809363"/>
              </p:ext>
            </p:extLst>
          </p:nvPr>
        </p:nvGraphicFramePr>
        <p:xfrm>
          <a:off x="1761780" y="1203207"/>
          <a:ext cx="7927544" cy="51037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595C2485-9179-02CA-DD41-0758B4802D13}"/>
              </a:ext>
            </a:extLst>
          </p:cNvPr>
          <p:cNvSpPr txBox="1"/>
          <p:nvPr/>
        </p:nvSpPr>
        <p:spPr>
          <a:xfrm>
            <a:off x="5389372" y="3105834"/>
            <a:ext cx="172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Stakeholder Wheel</a:t>
            </a:r>
          </a:p>
        </p:txBody>
      </p:sp>
    </p:spTree>
    <p:extLst>
      <p:ext uri="{BB962C8B-B14F-4D97-AF65-F5344CB8AC3E}">
        <p14:creationId xmlns:p14="http://schemas.microsoft.com/office/powerpoint/2010/main" val="3754309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2BD04-4A3E-B0C2-4C3C-DBAD180AF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946009-0736-5222-5B3B-9BFFD772F969}"/>
              </a:ext>
            </a:extLst>
          </p:cNvPr>
          <p:cNvSpPr txBox="1"/>
          <p:nvPr/>
        </p:nvSpPr>
        <p:spPr>
          <a:xfrm>
            <a:off x="400050" y="2025650"/>
            <a:ext cx="8534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200" b="1" dirty="0"/>
              <a:t>Business Process Model and Notation Diagram</a:t>
            </a:r>
          </a:p>
        </p:txBody>
      </p:sp>
    </p:spTree>
    <p:extLst>
      <p:ext uri="{BB962C8B-B14F-4D97-AF65-F5344CB8AC3E}">
        <p14:creationId xmlns:p14="http://schemas.microsoft.com/office/powerpoint/2010/main" val="1960911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7298C-3F92-CC80-BF6F-AD68134F8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EE86460-8F80-1175-C509-26D13F295D51}"/>
              </a:ext>
            </a:extLst>
          </p:cNvPr>
          <p:cNvSpPr txBox="1"/>
          <p:nvPr/>
        </p:nvSpPr>
        <p:spPr>
          <a:xfrm>
            <a:off x="110202" y="165101"/>
            <a:ext cx="111260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u="sng" dirty="0"/>
              <a:t>Accounts Payable Business Process Diagram</a:t>
            </a:r>
          </a:p>
        </p:txBody>
      </p:sp>
      <p:pic>
        <p:nvPicPr>
          <p:cNvPr id="4" name="Picture 3" descr="A diagram of a product&#10;&#10;Description automatically generated">
            <a:extLst>
              <a:ext uri="{FF2B5EF4-FFF2-40B4-BE49-F238E27FC236}">
                <a16:creationId xmlns:a16="http://schemas.microsoft.com/office/drawing/2014/main" id="{124BD762-3241-F515-6F6E-C2F22D668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544" y="1208561"/>
            <a:ext cx="8753654" cy="444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30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37530-E16B-8869-FB23-2E74B313C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AA404C-E067-7B84-E1A9-C6601092A368}"/>
              </a:ext>
            </a:extLst>
          </p:cNvPr>
          <p:cNvSpPr txBox="1"/>
          <p:nvPr/>
        </p:nvSpPr>
        <p:spPr>
          <a:xfrm>
            <a:off x="431948" y="1408962"/>
            <a:ext cx="8534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200" b="1" dirty="0"/>
              <a:t>Project Management &amp; Version Control</a:t>
            </a:r>
          </a:p>
        </p:txBody>
      </p:sp>
    </p:spTree>
    <p:extLst>
      <p:ext uri="{BB962C8B-B14F-4D97-AF65-F5344CB8AC3E}">
        <p14:creationId xmlns:p14="http://schemas.microsoft.com/office/powerpoint/2010/main" val="2717866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3CC23-3D3C-C2FB-EA4D-704FA7D9E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463BF25-CCED-E7E5-B2D6-7F24DF0F190E}"/>
              </a:ext>
            </a:extLst>
          </p:cNvPr>
          <p:cNvSpPr txBox="1"/>
          <p:nvPr/>
        </p:nvSpPr>
        <p:spPr>
          <a:xfrm>
            <a:off x="110202" y="165100"/>
            <a:ext cx="119715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u="sng" dirty="0"/>
              <a:t>Accounts Payable Project Management – Task list  </a:t>
            </a:r>
          </a:p>
        </p:txBody>
      </p:sp>
      <p:pic>
        <p:nvPicPr>
          <p:cNvPr id="14" name="Picture 13" descr="A screenshot of a computer&#10;&#10;Description automatically generated">
            <a:extLst>
              <a:ext uri="{FF2B5EF4-FFF2-40B4-BE49-F238E27FC236}">
                <a16:creationId xmlns:a16="http://schemas.microsoft.com/office/drawing/2014/main" id="{C54D4DAC-90EB-972A-A6C8-2D6D530E44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02" y="1104167"/>
            <a:ext cx="11706967" cy="4649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383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E86082-4CD9-4451-E5AF-2B53F9FAC8D4}"/>
              </a:ext>
            </a:extLst>
          </p:cNvPr>
          <p:cNvSpPr txBox="1"/>
          <p:nvPr/>
        </p:nvSpPr>
        <p:spPr>
          <a:xfrm>
            <a:off x="110202" y="165100"/>
            <a:ext cx="119715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u="sng" dirty="0"/>
              <a:t>Accounts Payable Project Management – Kanban  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4C257246-D91F-8732-3C57-3B522DB74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14" y="1167015"/>
            <a:ext cx="11574170" cy="4877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899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D7BC3-CE0A-46A2-66E6-EC1E1662F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7BB289-AC92-24D4-C4E0-A56EB899A33C}"/>
              </a:ext>
            </a:extLst>
          </p:cNvPr>
          <p:cNvSpPr txBox="1"/>
          <p:nvPr/>
        </p:nvSpPr>
        <p:spPr>
          <a:xfrm>
            <a:off x="110202" y="165100"/>
            <a:ext cx="119715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u="sng" dirty="0"/>
              <a:t>Accounts Payable Project Management – User Story 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8459CC51-D2DC-0B79-AEC0-8B12D6FA49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88" y="969850"/>
            <a:ext cx="9867751" cy="538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233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2E5C4-F326-528B-A4BE-B662ED561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DAF8F8-9633-B286-3790-0977E07F455D}"/>
              </a:ext>
            </a:extLst>
          </p:cNvPr>
          <p:cNvSpPr txBox="1"/>
          <p:nvPr/>
        </p:nvSpPr>
        <p:spPr>
          <a:xfrm>
            <a:off x="220406" y="100080"/>
            <a:ext cx="64036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u="sng" dirty="0"/>
              <a:t>Version Control Frontend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FD2F66D2-FC7B-9FC2-FFFF-CACBA43E1F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997" y="869521"/>
            <a:ext cx="9954952" cy="52935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EDF167-DFFD-B3EB-18E1-56E20CD40795}"/>
              </a:ext>
            </a:extLst>
          </p:cNvPr>
          <p:cNvSpPr txBox="1"/>
          <p:nvPr/>
        </p:nvSpPr>
        <p:spPr>
          <a:xfrm>
            <a:off x="10653823" y="988828"/>
            <a:ext cx="136096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Note: only the </a:t>
            </a:r>
            <a:r>
              <a:rPr lang="en-US" sz="1400" dirty="0" err="1"/>
              <a:t>src</a:t>
            </a:r>
            <a:r>
              <a:rPr lang="en-US" sz="1400" dirty="0"/>
              <a:t> file from the react project has been version controlled ( the entire react project is too large to be version controlled). This file be placed within any react project and the project should run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6E9ACB-D3E0-1330-AC11-37D60FC1C925}"/>
              </a:ext>
            </a:extLst>
          </p:cNvPr>
          <p:cNvSpPr txBox="1"/>
          <p:nvPr/>
        </p:nvSpPr>
        <p:spPr>
          <a:xfrm>
            <a:off x="220406" y="6163026"/>
            <a:ext cx="6113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LouiGee</a:t>
            </a:r>
            <a:r>
              <a:rPr lang="en-US" dirty="0"/>
              <a:t>/</a:t>
            </a:r>
            <a:r>
              <a:rPr lang="en-US" dirty="0" err="1"/>
              <a:t>finalProjectFrontEnd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497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9273D-B7A5-87A1-29C5-897B297B4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BF58A0-084A-C1ED-C1B5-2940291ACF93}"/>
              </a:ext>
            </a:extLst>
          </p:cNvPr>
          <p:cNvSpPr txBox="1"/>
          <p:nvPr/>
        </p:nvSpPr>
        <p:spPr>
          <a:xfrm>
            <a:off x="220406" y="100080"/>
            <a:ext cx="64036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u="sng" dirty="0"/>
              <a:t>Version Control Backend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932B9CD0-60F0-115D-D691-B818DF49E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06" y="902818"/>
            <a:ext cx="9461116" cy="50523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49AC11-996C-4546-130C-CB6C99FA0599}"/>
              </a:ext>
            </a:extLst>
          </p:cNvPr>
          <p:cNvSpPr txBox="1"/>
          <p:nvPr/>
        </p:nvSpPr>
        <p:spPr>
          <a:xfrm>
            <a:off x="220406" y="6269297"/>
            <a:ext cx="6113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LouiGee</a:t>
            </a:r>
            <a:r>
              <a:rPr lang="en-US" dirty="0"/>
              <a:t>/</a:t>
            </a:r>
            <a:r>
              <a:rPr lang="en-US" dirty="0" err="1"/>
              <a:t>finalProjectBackEnd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62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188FD1-5561-637C-BEFB-3938C4063FBD}"/>
              </a:ext>
            </a:extLst>
          </p:cNvPr>
          <p:cNvSpPr txBox="1"/>
          <p:nvPr/>
        </p:nvSpPr>
        <p:spPr>
          <a:xfrm>
            <a:off x="459921" y="2497365"/>
            <a:ext cx="853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200" b="1" dirty="0"/>
              <a:t>System Design </a:t>
            </a:r>
          </a:p>
        </p:txBody>
      </p:sp>
    </p:spTree>
    <p:extLst>
      <p:ext uri="{BB962C8B-B14F-4D97-AF65-F5344CB8AC3E}">
        <p14:creationId xmlns:p14="http://schemas.microsoft.com/office/powerpoint/2010/main" val="2659293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07E57-9A72-82CD-ABF1-1871BF4C7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0924E7-CFC9-1398-7601-8C42975F45AE}"/>
              </a:ext>
            </a:extLst>
          </p:cNvPr>
          <p:cNvSpPr txBox="1"/>
          <p:nvPr/>
        </p:nvSpPr>
        <p:spPr>
          <a:xfrm>
            <a:off x="444500" y="2154465"/>
            <a:ext cx="8534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200" b="1" dirty="0"/>
              <a:t>Component Diagram</a:t>
            </a:r>
          </a:p>
        </p:txBody>
      </p:sp>
    </p:spTree>
    <p:extLst>
      <p:ext uri="{BB962C8B-B14F-4D97-AF65-F5344CB8AC3E}">
        <p14:creationId xmlns:p14="http://schemas.microsoft.com/office/powerpoint/2010/main" val="878741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A5E1C-C96F-D820-3870-90D454168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4A2B795-89D8-FDFB-789A-5F2C0D908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0" y="73025"/>
            <a:ext cx="8783979" cy="1060173"/>
          </a:xfrm>
        </p:spPr>
        <p:txBody>
          <a:bodyPr/>
          <a:lstStyle/>
          <a:p>
            <a:r>
              <a:rPr lang="en-GB" dirty="0"/>
              <a:t>Web Application Component Diagram</a:t>
            </a:r>
          </a:p>
        </p:txBody>
      </p:sp>
      <p:pic>
        <p:nvPicPr>
          <p:cNvPr id="9" name="Picture 8" descr="A diagram of a computer&#10;&#10;Description automatically generated">
            <a:extLst>
              <a:ext uri="{FF2B5EF4-FFF2-40B4-BE49-F238E27FC236}">
                <a16:creationId xmlns:a16="http://schemas.microsoft.com/office/drawing/2014/main" id="{35E591D8-182E-E25E-7DCE-29986A9A3F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6220" y="1279502"/>
            <a:ext cx="6899560" cy="5052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27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87B1E-C9C5-CA06-AA37-CFF2224BE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269B4A-1458-65D9-F868-3CC9A62B85BE}"/>
              </a:ext>
            </a:extLst>
          </p:cNvPr>
          <p:cNvSpPr txBox="1"/>
          <p:nvPr/>
        </p:nvSpPr>
        <p:spPr>
          <a:xfrm>
            <a:off x="565150" y="2274838"/>
            <a:ext cx="105600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200" b="1" dirty="0"/>
              <a:t>REST API Stakeholder Interaction diagram </a:t>
            </a:r>
          </a:p>
        </p:txBody>
      </p:sp>
    </p:spTree>
    <p:extLst>
      <p:ext uri="{BB962C8B-B14F-4D97-AF65-F5344CB8AC3E}">
        <p14:creationId xmlns:p14="http://schemas.microsoft.com/office/powerpoint/2010/main" val="5296376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31872-DE1B-09C1-B1D9-2D03AC6EE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screenshot of a computer&#10;&#10;Description automatically generated">
            <a:extLst>
              <a:ext uri="{FF2B5EF4-FFF2-40B4-BE49-F238E27FC236}">
                <a16:creationId xmlns:a16="http://schemas.microsoft.com/office/drawing/2014/main" id="{EE142468-89AA-6482-117E-0DE0E1D120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512" y="937612"/>
            <a:ext cx="9938270" cy="50767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0E0CE1-C43F-C608-301F-2AC247596D93}"/>
              </a:ext>
            </a:extLst>
          </p:cNvPr>
          <p:cNvSpPr txBox="1"/>
          <p:nvPr/>
        </p:nvSpPr>
        <p:spPr>
          <a:xfrm>
            <a:off x="819592" y="168171"/>
            <a:ext cx="105528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Swagger API Specification Purchase Orders &amp; Payment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7A68FB5-03B3-0DB9-A441-DEECDB95D1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512" y="6050798"/>
            <a:ext cx="9521572" cy="63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6926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C0048-99D6-B2C8-71A2-E67CFB97A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87D9ABE-9743-1828-012D-E3D49FC9A787}"/>
              </a:ext>
            </a:extLst>
          </p:cNvPr>
          <p:cNvSpPr txBox="1"/>
          <p:nvPr/>
        </p:nvSpPr>
        <p:spPr>
          <a:xfrm>
            <a:off x="223652" y="203422"/>
            <a:ext cx="51883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Department Analyst</a:t>
            </a:r>
          </a:p>
        </p:txBody>
      </p:sp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45A1A79A-5670-9DED-CC8B-0FC25CE434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958" y="1202882"/>
            <a:ext cx="6388100" cy="3267400"/>
          </a:xfrm>
          <a:prstGeom prst="rect">
            <a:avLst/>
          </a:prstGeom>
        </p:spPr>
      </p:pic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4F6EA9AB-FBD0-FBF7-1627-AC07F58341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161"/>
          <a:stretch/>
        </p:blipFill>
        <p:spPr>
          <a:xfrm>
            <a:off x="1545029" y="4910802"/>
            <a:ext cx="5214029" cy="1140991"/>
          </a:xfrm>
          <a:prstGeom prst="rect">
            <a:avLst/>
          </a:prstGeom>
        </p:spPr>
      </p:pic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CADF127E-B427-E592-D79E-3CDE167073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849" b="23559"/>
          <a:stretch/>
        </p:blipFill>
        <p:spPr>
          <a:xfrm>
            <a:off x="6865543" y="2260805"/>
            <a:ext cx="5214029" cy="202219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2378815-018B-0ACB-1AE0-2A96DFB0DDE6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6580478" y="2343873"/>
            <a:ext cx="285065" cy="18042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719F530-8B72-0C2C-A030-F3DC976940F1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6580478" y="3726740"/>
            <a:ext cx="506122" cy="250488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908D0A6-CBE8-BBA6-D48C-F25FA6E3E632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2025570" y="4375230"/>
            <a:ext cx="2126474" cy="535572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 descr="A screenshot of a computer&#10;&#10;Description automatically generated">
            <a:extLst>
              <a:ext uri="{FF2B5EF4-FFF2-40B4-BE49-F238E27FC236}">
                <a16:creationId xmlns:a16="http://schemas.microsoft.com/office/drawing/2014/main" id="{13A83B81-16CA-67B7-E62B-3DA8B40EED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883" b="30676"/>
          <a:stretch/>
        </p:blipFill>
        <p:spPr>
          <a:xfrm>
            <a:off x="7086600" y="3634619"/>
            <a:ext cx="4846899" cy="184241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469A0FC-2CE8-F2F9-FB80-EB9546A63613}"/>
              </a:ext>
            </a:extLst>
          </p:cNvPr>
          <p:cNvCxnSpPr>
            <a:cxnSpLocks/>
          </p:cNvCxnSpPr>
          <p:nvPr/>
        </p:nvCxnSpPr>
        <p:spPr>
          <a:xfrm>
            <a:off x="2578608" y="3429000"/>
            <a:ext cx="1573435" cy="1481802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91792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24DD0-BDD5-A9F5-A69B-7DA54421F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12605DC-8784-1C33-DD0F-C5B9133B6E0C}"/>
              </a:ext>
            </a:extLst>
          </p:cNvPr>
          <p:cNvSpPr txBox="1"/>
          <p:nvPr/>
        </p:nvSpPr>
        <p:spPr>
          <a:xfrm>
            <a:off x="223652" y="203422"/>
            <a:ext cx="55752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Department Manager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36F889F7-0AA3-37CD-D017-FC50D6D68D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21" y="1062701"/>
            <a:ext cx="6139675" cy="3063427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1C60D7EA-A60B-F141-C26C-4B4CC508EB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825" b="9956"/>
          <a:stretch/>
        </p:blipFill>
        <p:spPr>
          <a:xfrm>
            <a:off x="362221" y="4969487"/>
            <a:ext cx="6463323" cy="238365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6B488CB4-F99B-DA88-4EF1-23F6A04505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351" r="1505" b="2801"/>
          <a:stretch/>
        </p:blipFill>
        <p:spPr>
          <a:xfrm>
            <a:off x="6096000" y="4367011"/>
            <a:ext cx="5995687" cy="24402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B16CFF2-9A06-06B1-032E-3C9C409ECA17}"/>
              </a:ext>
            </a:extLst>
          </p:cNvPr>
          <p:cNvCxnSpPr>
            <a:cxnSpLocks/>
          </p:cNvCxnSpPr>
          <p:nvPr/>
        </p:nvCxnSpPr>
        <p:spPr>
          <a:xfrm>
            <a:off x="1720312" y="1990846"/>
            <a:ext cx="1226854" cy="2978641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9AF1530-BCA7-19D0-94F4-96C2F895F3EC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6377651" y="1990846"/>
            <a:ext cx="2716193" cy="2376165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A screenshot of a computer&#10;&#10;Description automatically generated">
            <a:extLst>
              <a:ext uri="{FF2B5EF4-FFF2-40B4-BE49-F238E27FC236}">
                <a16:creationId xmlns:a16="http://schemas.microsoft.com/office/drawing/2014/main" id="{0D0FAAB9-891D-BAA4-8130-B6CC80761F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95" r="1787" b="38176"/>
          <a:stretch/>
        </p:blipFill>
        <p:spPr>
          <a:xfrm>
            <a:off x="2212848" y="5520852"/>
            <a:ext cx="8466412" cy="274288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3731513-E004-F76D-B728-7BB8788BE43C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3300984" y="4050792"/>
            <a:ext cx="3145070" cy="1470060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65963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B9AFC-7EAA-DA3F-7659-719F0336B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74D3810-1F10-E51C-3A25-467AEC0DEDC8}"/>
              </a:ext>
            </a:extLst>
          </p:cNvPr>
          <p:cNvSpPr txBox="1"/>
          <p:nvPr/>
        </p:nvSpPr>
        <p:spPr>
          <a:xfrm>
            <a:off x="223652" y="203422"/>
            <a:ext cx="55752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Finance Manager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8029FD8D-F67F-228D-33C3-A95EF5A1CC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351" r="1505" b="2801"/>
          <a:stretch/>
        </p:blipFill>
        <p:spPr>
          <a:xfrm>
            <a:off x="100313" y="5336107"/>
            <a:ext cx="5995687" cy="244020"/>
          </a:xfrm>
          <a:prstGeom prst="rect">
            <a:avLst/>
          </a:prstGeom>
        </p:spPr>
      </p:pic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6796AB83-6FCF-32F8-9BF9-E26B01DDB3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21" y="988958"/>
            <a:ext cx="6601892" cy="3304388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8AC72793-AAEC-879B-0E80-8B0004F75E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210" r="3166" b="44045"/>
          <a:stretch/>
        </p:blipFill>
        <p:spPr>
          <a:xfrm>
            <a:off x="754912" y="5788152"/>
            <a:ext cx="9623528" cy="393192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81A2264-6CE3-D273-7F1A-E6324B639A52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3293797" y="4192068"/>
            <a:ext cx="2272879" cy="1596084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82152B28-A63E-13C6-F411-57972F9C58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540" r="2735" b="16431"/>
          <a:stretch/>
        </p:blipFill>
        <p:spPr>
          <a:xfrm>
            <a:off x="4608576" y="4660771"/>
            <a:ext cx="7302189" cy="307911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AD6E16-52E2-632C-7FC2-7675499BCF7D}"/>
              </a:ext>
            </a:extLst>
          </p:cNvPr>
          <p:cNvCxnSpPr>
            <a:cxnSpLocks/>
          </p:cNvCxnSpPr>
          <p:nvPr/>
        </p:nvCxnSpPr>
        <p:spPr>
          <a:xfrm>
            <a:off x="6729984" y="1837944"/>
            <a:ext cx="1704860" cy="2822827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285E77-A681-F6DF-2D9C-914E6A3BFD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471" r="658"/>
          <a:stretch/>
        </p:blipFill>
        <p:spPr>
          <a:xfrm>
            <a:off x="350029" y="6312192"/>
            <a:ext cx="9458936" cy="393192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8C13DE3-9AAC-A4AC-4500-D1F23A147D08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3293797" y="4175973"/>
            <a:ext cx="1785700" cy="2136219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30B06A8-1A50-AA82-0F24-9D69C61E7701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2066544" y="1773936"/>
            <a:ext cx="1031613" cy="3562171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94658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1B602-8632-FC89-EF54-50BB13435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84DE37D-D625-CB6C-2736-5411B6FD1420}"/>
              </a:ext>
            </a:extLst>
          </p:cNvPr>
          <p:cNvSpPr txBox="1"/>
          <p:nvPr/>
        </p:nvSpPr>
        <p:spPr>
          <a:xfrm>
            <a:off x="574294" y="1799350"/>
            <a:ext cx="105600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200" b="1" dirty="0"/>
              <a:t>REST API Sequence Diagram (Low level diagrams)</a:t>
            </a:r>
          </a:p>
        </p:txBody>
      </p:sp>
    </p:spTree>
    <p:extLst>
      <p:ext uri="{BB962C8B-B14F-4D97-AF65-F5344CB8AC3E}">
        <p14:creationId xmlns:p14="http://schemas.microsoft.com/office/powerpoint/2010/main" val="7984354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E3C16-2B7C-A9AA-66EE-88D60E991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3B7FC341-6EFF-B40F-636C-92A87E3F9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41" y="76201"/>
            <a:ext cx="11220450" cy="1085850"/>
          </a:xfrm>
        </p:spPr>
        <p:txBody>
          <a:bodyPr/>
          <a:lstStyle/>
          <a:p>
            <a:r>
              <a:rPr lang="en-GB" dirty="0"/>
              <a:t>API Sequence Diagram – Basic Sequence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9594D6-7081-16D4-A725-86F7322460AB}"/>
              </a:ext>
            </a:extLst>
          </p:cNvPr>
          <p:cNvSpPr/>
          <p:nvPr/>
        </p:nvSpPr>
        <p:spPr>
          <a:xfrm>
            <a:off x="2280266" y="5260745"/>
            <a:ext cx="254000" cy="2032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59ADEE-FF28-66CA-9924-09076940B0D7}"/>
              </a:ext>
            </a:extLst>
          </p:cNvPr>
          <p:cNvSpPr/>
          <p:nvPr/>
        </p:nvSpPr>
        <p:spPr>
          <a:xfrm>
            <a:off x="5417166" y="5260745"/>
            <a:ext cx="254000" cy="203200"/>
          </a:xfrm>
          <a:prstGeom prst="rect">
            <a:avLst/>
          </a:prstGeom>
          <a:solidFill>
            <a:srgbClr val="FFCC00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C126B7-D678-FD62-A14A-E2A042A25A68}"/>
              </a:ext>
            </a:extLst>
          </p:cNvPr>
          <p:cNvSpPr/>
          <p:nvPr/>
        </p:nvSpPr>
        <p:spPr>
          <a:xfrm>
            <a:off x="8693766" y="5260745"/>
            <a:ext cx="254000" cy="203200"/>
          </a:xfrm>
          <a:prstGeom prst="rect">
            <a:avLst/>
          </a:prstGeom>
          <a:solidFill>
            <a:srgbClr val="92D05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D9428E-4051-E55E-FFE3-950DAC29F6D8}"/>
              </a:ext>
            </a:extLst>
          </p:cNvPr>
          <p:cNvSpPr txBox="1"/>
          <p:nvPr/>
        </p:nvSpPr>
        <p:spPr>
          <a:xfrm>
            <a:off x="2546966" y="5177679"/>
            <a:ext cx="119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Front end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1896BD-E541-EF37-AB4D-8AA3F4A5B537}"/>
              </a:ext>
            </a:extLst>
          </p:cNvPr>
          <p:cNvSpPr txBox="1"/>
          <p:nvPr/>
        </p:nvSpPr>
        <p:spPr>
          <a:xfrm>
            <a:off x="5683866" y="5177679"/>
            <a:ext cx="119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Back end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8A17C1-ECD6-8528-4B03-1D2D22FFDE47}"/>
              </a:ext>
            </a:extLst>
          </p:cNvPr>
          <p:cNvSpPr txBox="1"/>
          <p:nvPr/>
        </p:nvSpPr>
        <p:spPr>
          <a:xfrm>
            <a:off x="8947766" y="5177679"/>
            <a:ext cx="119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Database</a:t>
            </a:r>
          </a:p>
        </p:txBody>
      </p:sp>
      <p:pic>
        <p:nvPicPr>
          <p:cNvPr id="15" name="Picture 14" descr="A white paper with black lines&#10;&#10;AI-generated content may be incorrect.">
            <a:extLst>
              <a:ext uri="{FF2B5EF4-FFF2-40B4-BE49-F238E27FC236}">
                <a16:creationId xmlns:a16="http://schemas.microsoft.com/office/drawing/2014/main" id="{02F46302-EDEE-F4F8-A4E2-3C4C2AA9D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237" y="2313476"/>
            <a:ext cx="11439525" cy="223104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008334B-E077-0F86-0D08-650E38F2D55D}"/>
              </a:ext>
            </a:extLst>
          </p:cNvPr>
          <p:cNvSpPr txBox="1"/>
          <p:nvPr/>
        </p:nvSpPr>
        <p:spPr>
          <a:xfrm>
            <a:off x="304800" y="1162051"/>
            <a:ext cx="1059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There are 13 purchase order and payment endpoints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Requests to these endpoints will follow a similar pattern </a:t>
            </a:r>
          </a:p>
        </p:txBody>
      </p:sp>
    </p:spTree>
    <p:extLst>
      <p:ext uri="{BB962C8B-B14F-4D97-AF65-F5344CB8AC3E}">
        <p14:creationId xmlns:p14="http://schemas.microsoft.com/office/powerpoint/2010/main" val="32854882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8F5F4E-689A-B780-9E4A-18733B169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991" y="92289"/>
            <a:ext cx="11778018" cy="1325563"/>
          </a:xfrm>
        </p:spPr>
        <p:txBody>
          <a:bodyPr/>
          <a:lstStyle/>
          <a:p>
            <a:r>
              <a:rPr lang="en-GB" dirty="0"/>
              <a:t>API Sequence Diagram – Authentication Request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17D86A-AF55-A7D9-B512-7B9D8083CF29}"/>
              </a:ext>
            </a:extLst>
          </p:cNvPr>
          <p:cNvSpPr/>
          <p:nvPr/>
        </p:nvSpPr>
        <p:spPr>
          <a:xfrm>
            <a:off x="2349500" y="5615503"/>
            <a:ext cx="254000" cy="2032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49B6D9-B89D-4704-3500-CD087F3A7164}"/>
              </a:ext>
            </a:extLst>
          </p:cNvPr>
          <p:cNvSpPr/>
          <p:nvPr/>
        </p:nvSpPr>
        <p:spPr>
          <a:xfrm>
            <a:off x="5486400" y="5615503"/>
            <a:ext cx="254000" cy="203200"/>
          </a:xfrm>
          <a:prstGeom prst="rect">
            <a:avLst/>
          </a:prstGeom>
          <a:solidFill>
            <a:srgbClr val="FFCC00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B09B8A-F445-AF7B-4A0D-48A163BA965B}"/>
              </a:ext>
            </a:extLst>
          </p:cNvPr>
          <p:cNvSpPr/>
          <p:nvPr/>
        </p:nvSpPr>
        <p:spPr>
          <a:xfrm>
            <a:off x="8763000" y="5615503"/>
            <a:ext cx="254000" cy="203200"/>
          </a:xfrm>
          <a:prstGeom prst="rect">
            <a:avLst/>
          </a:prstGeom>
          <a:solidFill>
            <a:srgbClr val="92D05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E63225-FD5F-C043-AAD0-75B6324184B0}"/>
              </a:ext>
            </a:extLst>
          </p:cNvPr>
          <p:cNvSpPr txBox="1"/>
          <p:nvPr/>
        </p:nvSpPr>
        <p:spPr>
          <a:xfrm>
            <a:off x="2616200" y="5532437"/>
            <a:ext cx="119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Front end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537EC6-BC99-1F7A-0CB7-3B773E6A91B8}"/>
              </a:ext>
            </a:extLst>
          </p:cNvPr>
          <p:cNvSpPr txBox="1"/>
          <p:nvPr/>
        </p:nvSpPr>
        <p:spPr>
          <a:xfrm>
            <a:off x="5753100" y="5532437"/>
            <a:ext cx="119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Back end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F63284-69B1-6C75-EBE0-093B42C5CEFA}"/>
              </a:ext>
            </a:extLst>
          </p:cNvPr>
          <p:cNvSpPr txBox="1"/>
          <p:nvPr/>
        </p:nvSpPr>
        <p:spPr>
          <a:xfrm>
            <a:off x="9017000" y="5532437"/>
            <a:ext cx="119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Database</a:t>
            </a:r>
          </a:p>
        </p:txBody>
      </p:sp>
      <p:pic>
        <p:nvPicPr>
          <p:cNvPr id="15" name="Picture 14" descr="A white paper with black and yellow text&#10;&#10;AI-generated content may be incorrect.">
            <a:extLst>
              <a:ext uri="{FF2B5EF4-FFF2-40B4-BE49-F238E27FC236}">
                <a16:creationId xmlns:a16="http://schemas.microsoft.com/office/drawing/2014/main" id="{FA90F5E9-3AFC-E992-6593-946FCF74FD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668234"/>
            <a:ext cx="11353800" cy="33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574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6D3BA-DA07-0533-DD6D-91F86064C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AA348B-14D1-9740-8149-3B90F943CF8A}"/>
              </a:ext>
            </a:extLst>
          </p:cNvPr>
          <p:cNvSpPr txBox="1"/>
          <p:nvPr/>
        </p:nvSpPr>
        <p:spPr>
          <a:xfrm>
            <a:off x="374650" y="1631479"/>
            <a:ext cx="93728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200" b="1" dirty="0"/>
              <a:t>Database Design (Low level diagrams)</a:t>
            </a:r>
          </a:p>
        </p:txBody>
      </p:sp>
    </p:spTree>
    <p:extLst>
      <p:ext uri="{BB962C8B-B14F-4D97-AF65-F5344CB8AC3E}">
        <p14:creationId xmlns:p14="http://schemas.microsoft.com/office/powerpoint/2010/main" val="29866449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A32B3-86AC-25D3-B07B-6E3C3EAE1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F0AA046-897D-2C4C-7ABF-C038B54C8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074" y="0"/>
            <a:ext cx="11553825" cy="1060173"/>
          </a:xfrm>
        </p:spPr>
        <p:txBody>
          <a:bodyPr>
            <a:noAutofit/>
          </a:bodyPr>
          <a:lstStyle/>
          <a:p>
            <a:r>
              <a:rPr lang="en-GB" dirty="0"/>
              <a:t>Relational/Conceptual Model – Authentication 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A61A1B8F-CD4E-244B-D683-8135F10BE5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801" y="1203796"/>
            <a:ext cx="8699944" cy="5014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1142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6EA15-26F6-6DBD-F046-85FFC57D2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17AFC55-E080-A969-1131-E2856CBF6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60173"/>
          </a:xfrm>
        </p:spPr>
        <p:txBody>
          <a:bodyPr>
            <a:noAutofit/>
          </a:bodyPr>
          <a:lstStyle/>
          <a:p>
            <a:r>
              <a:rPr lang="en-GB" sz="4000" dirty="0"/>
              <a:t>Relational/Conceptual Model– Purchase Order Item</a:t>
            </a:r>
          </a:p>
        </p:txBody>
      </p:sp>
      <p:pic>
        <p:nvPicPr>
          <p:cNvPr id="8" name="Picture 7" descr="A screenshot of a diagram&#10;&#10;Description automatically generated">
            <a:extLst>
              <a:ext uri="{FF2B5EF4-FFF2-40B4-BE49-F238E27FC236}">
                <a16:creationId xmlns:a16="http://schemas.microsoft.com/office/drawing/2014/main" id="{368EE8DE-FBFD-574D-F237-BD8B935D8B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9976" y="924560"/>
            <a:ext cx="5972048" cy="5673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9188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422C7-6385-65DF-845D-D1E9658A5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1226E1-FB82-EFFB-4DCB-EE5BC53B6E81}"/>
              </a:ext>
            </a:extLst>
          </p:cNvPr>
          <p:cNvSpPr txBox="1"/>
          <p:nvPr/>
        </p:nvSpPr>
        <p:spPr>
          <a:xfrm>
            <a:off x="622623" y="2228671"/>
            <a:ext cx="93728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200" b="1" dirty="0"/>
              <a:t>Acceptance Testing</a:t>
            </a:r>
          </a:p>
        </p:txBody>
      </p:sp>
    </p:spTree>
    <p:extLst>
      <p:ext uri="{BB962C8B-B14F-4D97-AF65-F5344CB8AC3E}">
        <p14:creationId xmlns:p14="http://schemas.microsoft.com/office/powerpoint/2010/main" val="4028710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A3501-243E-33A7-37F4-F9B0CC8A8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D591DE-7192-7AE9-6054-735E76633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947103"/>
              </p:ext>
            </p:extLst>
          </p:nvPr>
        </p:nvGraphicFramePr>
        <p:xfrm>
          <a:off x="191146" y="123008"/>
          <a:ext cx="11809707" cy="67549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41422">
                  <a:extLst>
                    <a:ext uri="{9D8B030D-6E8A-4147-A177-3AD203B41FA5}">
                      <a16:colId xmlns:a16="http://schemas.microsoft.com/office/drawing/2014/main" val="683442847"/>
                    </a:ext>
                  </a:extLst>
                </a:gridCol>
                <a:gridCol w="1968285">
                  <a:extLst>
                    <a:ext uri="{9D8B030D-6E8A-4147-A177-3AD203B41FA5}">
                      <a16:colId xmlns:a16="http://schemas.microsoft.com/office/drawing/2014/main" val="2305951448"/>
                    </a:ext>
                  </a:extLst>
                </a:gridCol>
              </a:tblGrid>
              <a:tr h="381774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Acceptance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126838"/>
                  </a:ext>
                </a:extLst>
              </a:tr>
              <a:tr h="616713">
                <a:tc>
                  <a:txBody>
                    <a:bodyPr/>
                    <a:lstStyle/>
                    <a:p>
                      <a:r>
                        <a:rPr lang="en-US" dirty="0"/>
                        <a:t>As a department analyst, I’d like to be able to log in and view the correct menu so I can raise my purchase order.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Pass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289497"/>
                  </a:ext>
                </a:extLst>
              </a:tr>
              <a:tr h="6167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As a department manager, I’d like to be able to log in and view the correct menu so I can approve purchase order.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Pass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5661960"/>
                  </a:ext>
                </a:extLst>
              </a:tr>
              <a:tr h="6167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As a finance manager, I’d like to be able to log in and view the correct menu so I can pay for the purchase order.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Pass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581774"/>
                  </a:ext>
                </a:extLst>
              </a:tr>
              <a:tr h="549146">
                <a:tc>
                  <a:txBody>
                    <a:bodyPr/>
                    <a:lstStyle/>
                    <a:p>
                      <a:r>
                        <a:rPr lang="en-US" dirty="0"/>
                        <a:t>As a stakeholder, from the menu, I’d like a logout button so I can logout.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Pass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033414"/>
                  </a:ext>
                </a:extLst>
              </a:tr>
              <a:tr h="616713">
                <a:tc>
                  <a:txBody>
                    <a:bodyPr/>
                    <a:lstStyle/>
                    <a:p>
                      <a:r>
                        <a:rPr lang="en-US" dirty="0"/>
                        <a:t>As a stakeholder, I’d like to see my email and role on the top right of the screen so I can confirm my privileges.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Pass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9537665"/>
                  </a:ext>
                </a:extLst>
              </a:tr>
              <a:tr h="616713">
                <a:tc>
                  <a:txBody>
                    <a:bodyPr/>
                    <a:lstStyle/>
                    <a:p>
                      <a:r>
                        <a:rPr lang="en-US" dirty="0"/>
                        <a:t>As a department analyst, I’d like to be able to click the raise ‘purchase order button’ so I can be taken to the raise purchase order screen.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Pass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1285137"/>
                  </a:ext>
                </a:extLst>
              </a:tr>
              <a:tr h="689469">
                <a:tc>
                  <a:txBody>
                    <a:bodyPr/>
                    <a:lstStyle/>
                    <a:p>
                      <a:r>
                        <a:rPr lang="en-US" dirty="0"/>
                        <a:t>As a department analyst, I’d like to be able to input information about a purchase order item so I can then add it to the current purchase order entry.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Pass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1122568"/>
                  </a:ext>
                </a:extLst>
              </a:tr>
              <a:tr h="549146">
                <a:tc>
                  <a:txBody>
                    <a:bodyPr/>
                    <a:lstStyle/>
                    <a:p>
                      <a:r>
                        <a:rPr lang="en-US" dirty="0"/>
                        <a:t>As a department analyst, I’d like to be able to add a purchase order item to the current purchase order entry (temporary purchase order table) so I can logically group purchase order items under one purchase order.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Pass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660443"/>
                  </a:ext>
                </a:extLst>
              </a:tr>
              <a:tr h="8623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As a department analyst, I’d like to be able to edit select fields (company, item, quantity, total price and description) in the current purchase order entry and edit them so I can correct information about the current purchase if required.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Pass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9476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17053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94C8770-1D57-6E52-C162-FD124D7C6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1234713"/>
              </p:ext>
            </p:extLst>
          </p:nvPr>
        </p:nvGraphicFramePr>
        <p:xfrm>
          <a:off x="0" y="0"/>
          <a:ext cx="12192000" cy="68580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59999">
                  <a:extLst>
                    <a:ext uri="{9D8B030D-6E8A-4147-A177-3AD203B41FA5}">
                      <a16:colId xmlns:a16="http://schemas.microsoft.com/office/drawing/2014/main" val="683442847"/>
                    </a:ext>
                  </a:extLst>
                </a:gridCol>
                <a:gridCol w="2032001">
                  <a:extLst>
                    <a:ext uri="{9D8B030D-6E8A-4147-A177-3AD203B41FA5}">
                      <a16:colId xmlns:a16="http://schemas.microsoft.com/office/drawing/2014/main" val="2305951448"/>
                    </a:ext>
                  </a:extLst>
                </a:gridCol>
              </a:tblGrid>
              <a:tr h="473827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Acceptance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126838"/>
                  </a:ext>
                </a:extLst>
              </a:tr>
              <a:tr h="7654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As a department analyst, I’d like to be able to delete a current purchase order item and for the remaining purchase order items to be reindexed so I can change the current entry list if required.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289497"/>
                  </a:ext>
                </a:extLst>
              </a:tr>
              <a:tr h="7374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As a department analyst, I’d like to be able to view a purchase order history table so I can keep track of the purchase orders and purchase order items I have raised.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5661960"/>
                  </a:ext>
                </a:extLst>
              </a:tr>
              <a:tr h="7374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As a department analyst, I’d like to be able to view summary statistics so that, at a glance, I can glean basic information about my purchase order history.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581774"/>
                  </a:ext>
                </a:extLst>
              </a:tr>
              <a:tr h="6566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As a department manager, I’d like to be able to click on the approve purchase order button on the menu and then to be taken to the approve purchase order screen.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033414"/>
                  </a:ext>
                </a:extLst>
              </a:tr>
              <a:tr h="737470">
                <a:tc>
                  <a:txBody>
                    <a:bodyPr/>
                    <a:lstStyle/>
                    <a:p>
                      <a:r>
                        <a:rPr lang="en-US" dirty="0"/>
                        <a:t>As a department manager, I’d like to be able to view purchase order items awaiting approval so I can verify that the correct purchase orders have been raised.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9537665"/>
                  </a:ext>
                </a:extLst>
              </a:tr>
              <a:tr h="7374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As a department manager, I’d like to be able to view approved purchase order items so I can view the purchase orders raised.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1285137"/>
                  </a:ext>
                </a:extLst>
              </a:tr>
              <a:tr h="824472">
                <a:tc>
                  <a:txBody>
                    <a:bodyPr/>
                    <a:lstStyle/>
                    <a:p>
                      <a:r>
                        <a:rPr lang="en-US" dirty="0"/>
                        <a:t>As a department manager, I’d like to be able to select several purchase order items to approve at a time.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1122568"/>
                  </a:ext>
                </a:extLst>
              </a:tr>
              <a:tr h="656672">
                <a:tc>
                  <a:txBody>
                    <a:bodyPr/>
                    <a:lstStyle/>
                    <a:p>
                      <a:r>
                        <a:rPr lang="en-US" dirty="0"/>
                        <a:t>As a stakeholder, I’d like to be able to click the back arrow and return to the menu so I can navigate away from the page.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660443"/>
                  </a:ext>
                </a:extLst>
              </a:tr>
              <a:tr h="5310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As a stakeholder, I’d like to be able to view my credentials on the top right of the screen.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9476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81004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CA8DD-2D42-6566-71F3-F138C463F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6A46D26-AE69-7024-AB57-825A0D1A55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022033"/>
              </p:ext>
            </p:extLst>
          </p:nvPr>
        </p:nvGraphicFramePr>
        <p:xfrm>
          <a:off x="0" y="0"/>
          <a:ext cx="12192000" cy="33708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59999">
                  <a:extLst>
                    <a:ext uri="{9D8B030D-6E8A-4147-A177-3AD203B41FA5}">
                      <a16:colId xmlns:a16="http://schemas.microsoft.com/office/drawing/2014/main" val="683442847"/>
                    </a:ext>
                  </a:extLst>
                </a:gridCol>
                <a:gridCol w="2032001">
                  <a:extLst>
                    <a:ext uri="{9D8B030D-6E8A-4147-A177-3AD203B41FA5}">
                      <a16:colId xmlns:a16="http://schemas.microsoft.com/office/drawing/2014/main" val="2305951448"/>
                    </a:ext>
                  </a:extLst>
                </a:gridCol>
              </a:tblGrid>
              <a:tr h="473827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Acceptance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126838"/>
                  </a:ext>
                </a:extLst>
              </a:tr>
              <a:tr h="7654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As a finance manager, I’d like to be able to view the purchase order items awaiting payment so I can see which purchase orders need to be paid.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289497"/>
                  </a:ext>
                </a:extLst>
              </a:tr>
              <a:tr h="7374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As a finance manager, I’d like to be able to select multiple purchase order items so that  I can prepare them for payment.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Pass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5661960"/>
                  </a:ext>
                </a:extLst>
              </a:tr>
              <a:tr h="7374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As a finance manager, I’d like to be able to press the ‘Pay selected’ button and to be taken to the Tink payment portal, so I can then play for the selected purchase order items.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Pass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581774"/>
                  </a:ext>
                </a:extLst>
              </a:tr>
              <a:tr h="6566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As a finance manager, I’d like to be able to view the paid purchase order items in the paid purchase orders table.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Pass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033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0891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93BB9634A9FB4BBB3CB34844A7B885" ma:contentTypeVersion="10" ma:contentTypeDescription="Create a new document." ma:contentTypeScope="" ma:versionID="3ba892fb4251206d27187b2d52699109">
  <xsd:schema xmlns:xsd="http://www.w3.org/2001/XMLSchema" xmlns:xs="http://www.w3.org/2001/XMLSchema" xmlns:p="http://schemas.microsoft.com/office/2006/metadata/properties" xmlns:ns3="5463250c-ef04-4d43-b2b5-be1f7b77a557" targetNamespace="http://schemas.microsoft.com/office/2006/metadata/properties" ma:root="true" ma:fieldsID="ab936417bae62453d5208b4457c83a34" ns3:_="">
    <xsd:import namespace="5463250c-ef04-4d43-b2b5-be1f7b77a55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63250c-ef04-4d43-b2b5-be1f7b77a55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463250c-ef04-4d43-b2b5-be1f7b77a557" xsi:nil="true"/>
  </documentManagement>
</p:properties>
</file>

<file path=customXml/itemProps1.xml><?xml version="1.0" encoding="utf-8"?>
<ds:datastoreItem xmlns:ds="http://schemas.openxmlformats.org/officeDocument/2006/customXml" ds:itemID="{402E2E56-9483-428E-8E2F-7008772C53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FFB0339-2F75-43F0-851D-BBA0B2DF33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463250c-ef04-4d43-b2b5-be1f7b77a55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CB89A5E-C9CA-49DA-9D81-A17830AD916A}">
  <ds:schemaRefs>
    <ds:schemaRef ds:uri="5463250c-ef04-4d43-b2b5-be1f7b77a557"/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www.w3.org/XML/1998/namespace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6588</TotalTime>
  <Words>908</Words>
  <Application>Microsoft Macintosh PowerPoint</Application>
  <PresentationFormat>Widescreen</PresentationFormat>
  <Paragraphs>94</Paragraphs>
  <Slides>29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Web Application Component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API Sequence Diagram – Basic Sequence</vt:lpstr>
      <vt:lpstr>API Sequence Diagram – Authentication Request</vt:lpstr>
      <vt:lpstr>PowerPoint Presentation</vt:lpstr>
      <vt:lpstr>Relational/Conceptual Model – Authentication </vt:lpstr>
      <vt:lpstr>Relational/Conceptual Model– Purchase Order Item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Goate</dc:creator>
  <cp:lastModifiedBy>Luis Goate</cp:lastModifiedBy>
  <cp:revision>26</cp:revision>
  <cp:lastPrinted>2025-06-24T13:25:40Z</cp:lastPrinted>
  <dcterms:created xsi:type="dcterms:W3CDTF">2025-06-21T09:15:14Z</dcterms:created>
  <dcterms:modified xsi:type="dcterms:W3CDTF">2025-08-12T16:29:32Z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0x010100E093BB9634A9FB4BBB3CB34844A7B885</vt:lpwstr>
  </property>
</Properties>
</file>